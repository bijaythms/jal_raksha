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Georgia"/>
              </a:defRPr>
            </a:pPr>
            <a:r>
              <a:t>SMART INDIA HACKATHON 2026</a:t>
            </a:r>
          </a:p>
        </p:txBody>
      </p:sp>
      <p:pic>
        <p:nvPicPr>
          <p:cNvPr id="3" name="Picture 2" descr="p1_img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828800" cy="862361"/>
          </a:xfrm>
          <a:prstGeom prst="rect">
            <a:avLst/>
          </a:prstGeom>
        </p:spPr>
      </p:pic>
      <p:pic>
        <p:nvPicPr>
          <p:cNvPr id="4" name="Picture 3" descr="p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120"/>
            <a:ext cx="3017520" cy="3227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A365D"/>
                </a:solidFill>
              </a:rPr>
              <a:t>• Problem Statement ID –</a:t>
            </a:r>
            <a:r>
              <a:rPr b="0" sz="1650">
                <a:solidFill>
                  <a:srgbClr val="1E293B"/>
                </a:solidFill>
              </a:rPr>
              <a:t> SIH26161 (NTRO HADR Deliverable)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A365D"/>
                </a:solidFill>
              </a:rPr>
              <a:t>• Problem Statement Title –</a:t>
            </a:r>
            <a:r>
              <a:rPr b="0" sz="1650">
                <a:solidFill>
                  <a:srgbClr val="1E293B"/>
                </a:solidFill>
              </a:rPr>
              <a:t> Dam Break Inundation Modelling Using Hydrodynamic Modelling of any River.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A365D"/>
                </a:solidFill>
              </a:rPr>
              <a:t>• Theme –</a:t>
            </a:r>
            <a:r>
              <a:rPr b="0" sz="1650">
                <a:solidFill>
                  <a:srgbClr val="1E293B"/>
                </a:solidFill>
              </a:rPr>
              <a:t> Disaster Management &amp; Space / Defense Technology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A365D"/>
                </a:solidFill>
              </a:rPr>
              <a:t>• PS Category –</a:t>
            </a:r>
            <a:r>
              <a:rPr b="0" sz="165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A365D"/>
                </a:solidFill>
              </a:rPr>
              <a:t>• Team ID –</a:t>
            </a:r>
            <a:r>
              <a:rPr b="0" sz="1650">
                <a:solidFill>
                  <a:srgbClr val="1E293B"/>
                </a:solidFill>
              </a:rPr>
              <a:t> 172200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A365D"/>
                </a:solidFill>
              </a:rPr>
              <a:t>• Team Name –</a:t>
            </a:r>
            <a:r>
              <a:rPr b="0" sz="1650">
                <a:solidFill>
                  <a:srgbClr val="1E293B"/>
                </a:solidFill>
              </a:rPr>
              <a:t> VisionQuest1 (Creators of Jal Raksha)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88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Vision</a:t>
            </a:r>
            <a:br/>
            <a:r>
              <a:t>Quest1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Georgia"/>
              </a:defRPr>
            </a:pPr>
            <a:r>
              <a:t>Jal Raksha — from data to decision, from risk to resilience</a:t>
            </a:r>
          </a:p>
        </p:txBody>
      </p:sp>
      <p:pic>
        <p:nvPicPr>
          <p:cNvPr id="4" name="Picture 3" descr="p1_img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463040" cy="689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6492240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5394960" cy="123444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EA580C"/>
                </a:solidFill>
              </a:rPr>
              <a:t>Real-World Issue: </a:t>
            </a:r>
            <a:r>
              <a:rPr sz="1150">
                <a:solidFill>
                  <a:srgbClr val="1E293B"/>
                </a:solidFill>
              </a:rPr>
              <a:t>Catastrophic flash floods from sudden dam failures &amp; natural dam/lake formations (Rishi Ganga 2021, Phuktal 2015, South Lhonak 2023, Kosi 2008), lacking automated rapid HADR simulation.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1A365D"/>
                </a:solidFill>
              </a:defRPr>
            </a:pPr>
            <a:r>
              <a:t>Why Important: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🌊 India houses 5,745+ large dams, many aging &gt;50 years with dense downstream population corridors.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⏱️ Arrival times in steep valleys are under 2 to 30 mins — every second lost costs human lives.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🏔️ Glacial Lake Outbursts (GLOF) &amp; landslide blockages strike Himalayan valleys with zero warning.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📉 Conventional hydraulic tools (HEC-RAS, MIKE FLOOD) take days; commanders need sub-minute mapping.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45152"/>
            <a:ext cx="5394960" cy="16916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66534"/>
                </a:solidFill>
              </a:rPr>
              <a:t>Solution:
</a:t>
            </a:r>
            <a:r>
              <a:rPr sz="1100">
                <a:solidFill>
                  <a:srgbClr val="1E293B"/>
                </a:solidFill>
              </a:rPr>
              <a:t>Jal Raksha integrates Copernicus GLO-30 DEM, satellite radar (Sentinel-1 SAR), high-density river networks for 65+ Indian dams, dual hydrodynamic solvers (SPH + Delft3D SWE), and automated GEE ground-truth validation. Generates instant Shapefiles (.shp), Google Earth KMLs, and tactical evacuation plans in 15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960120"/>
            <a:ext cx="5669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400">
                <a:solidFill>
                  <a:srgbClr val="38BDF8"/>
                </a:solidFill>
              </a:defRPr>
            </a:pPr>
            <a:r>
              <a:t>JAL RAKSHA PLATFORM ARCHITECTURE</a:t>
            </a:r>
          </a:p>
          <a:p>
            <a:pPr>
              <a:defRPr b="1" sz="1100">
                <a:solidFill>
                  <a:srgbClr val="FBBF24"/>
                </a:solidFill>
              </a:defRPr>
            </a:pPr>
            <a:r>
              <a:t>01 DUAL HYDRODYNAMIC SOLVERS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• SPH (Lagrangian particles) for near-breach shockwave &amp; velocity</a:t>
            </a:r>
            <a:br/>
            <a:r>
              <a:t>• Delft3D (Eulerian SWE) for valley flood routing &amp; backwater</a:t>
            </a:r>
            <a:br/>
            <a:r>
              <a:t>• Geotechnical breach kinematics (Froehlich, MacDonald-Langridge)</a:t>
            </a:r>
          </a:p>
          <a:p>
            <a:pPr>
              <a:defRPr b="1" sz="1100">
                <a:solidFill>
                  <a:srgbClr val="FBBF24"/>
                </a:solidFill>
              </a:defRPr>
            </a:pPr>
            <a:r>
              <a:t>02 BIG GEOSPATIAL DATA &amp; GEE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• 65+ preloaded Indian dams with 150-400 node river meanders</a:t>
            </a:r>
            <a:br/>
            <a:r>
              <a:t>• Copernicus GLO-30 30m DEM + automated D8 flow direction</a:t>
            </a:r>
            <a:br/>
            <a:r>
              <a:t>• Google Earth Engine Sentinel-1 SAR change detection (Δσ° &lt; -2.5 dB)</a:t>
            </a:r>
          </a:p>
          <a:p>
            <a:pPr>
              <a:defRPr b="1" sz="1100">
                <a:solidFill>
                  <a:srgbClr val="FBBF24"/>
                </a:solidFill>
              </a:defRPr>
            </a:pPr>
            <a:r>
              <a:t>03 TACTICAL HADR DECISION SUPPORT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• Instant ESRI Shapefile (.shp ZIP) &amp; Google Earth 3D KML export</a:t>
            </a:r>
            <a:br/>
            <a:r>
              <a:t>• Building-level exposure triage &amp; economic damage assessment</a:t>
            </a:r>
            <a:br/>
            <a:r>
              <a:t>• Plain-language emergency commander cards &amp; arrival time contours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303520"/>
            <a:ext cx="3931920" cy="868680"/>
          </a:xfrm>
          <a:prstGeom prst="roundRect">
            <a:avLst/>
          </a:prstGeom>
          <a:solidFill>
            <a:srgbClr val="B91C1C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PROTOTYPE  →  LIVE WEB PLATFORM</a:t>
            </a:r>
            <a:br/>
            <a:r>
              <a:t>Video Demo · Full GIS Suite · GEE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88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Vision</a:t>
            </a:r>
            <a:br/>
            <a:r>
              <a:t>Quest1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Georgia"/>
              </a:defRPr>
            </a:pPr>
            <a:r>
              <a:t>TECHNICAL APPROACH &amp; IMPLEMENTATION</a:t>
            </a:r>
          </a:p>
        </p:txBody>
      </p:sp>
      <p:pic>
        <p:nvPicPr>
          <p:cNvPr id="4" name="Picture 3" descr="p1_img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463040" cy="689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6492240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36576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50">
                <a:solidFill>
                  <a:srgbClr val="1A365D"/>
                </a:solidFill>
              </a:defRPr>
            </a:pPr>
            <a:r>
              <a:t>1. Terrain Ingestion &amp; D8 Routing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Copernicus GLO-30 DEM, D8 downhill flow direction, 65+ dam river network centerlines (150-400 nodes).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36576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50">
                <a:solidFill>
                  <a:srgbClr val="1A365D"/>
                </a:solidFill>
              </a:defRPr>
            </a:pPr>
            <a:r>
              <a:t>2. Breach Mechanics &amp; Kinematics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Froehlich (2008), MacDonald &amp; Langridge, geotechnical erosion (k_d, tau_c) producing peak hydrograph Q(t).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36576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50">
                <a:solidFill>
                  <a:srgbClr val="1A365D"/>
                </a:solidFill>
              </a:defRPr>
            </a:pPr>
            <a:r>
              <a:t>3. SPH &amp; Delft3D Hydrodynamic Routing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Lagrangian particle shockwave tracking + 2D DEM bathtub cross-section solver with 1D Muskingum-Cunge diffusion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83479"/>
            <a:ext cx="36576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50">
                <a:solidFill>
                  <a:srgbClr val="1A365D"/>
                </a:solidFill>
              </a:defRPr>
            </a:pPr>
            <a:r>
              <a:t>4. HADR Decision Support &amp; GIS Export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Time-stepped arrival contours, building/population exposure triage, instant .shp &amp; .kml generation, GEE SAR cross-check.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9120" y="1005840"/>
          <a:ext cx="7315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Technologies Used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HTML5, CSS3, JavaScript (ES6+), Leaflet.js, Canvas, Responsive Mobile UI, Multi-Scenario &amp; Animation Docks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BackEnd &amp; Solvers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FastAPI, Python 3.12, NumPy, SciPy, Rasterio, Shapely, SPH &amp; Delft3D Solvers, Froehlich / MacDonald Breach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Earth Observation &amp; Geospatial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ESA Sentinel-1 SAR (IW mode, VV polarization), Copernicus GLO-30 30m DEM, Google Earth Engine API, OSM Overpass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Database &amp; GIS Engines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SQLite with WAL Mode &amp; Connection Pooling, Native ESRI Shapefile Package Generator (.zip), Google Earth 3D KML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A365D"/>
                          </a:solidFill>
                        </a:defRPr>
                      </a:pPr>
                      <a:r>
                        <a:t>Deployment &amp; Reliability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Uvicorn ASGI Server, Docker, Local / Offline Edge Deployable (Zero Cloud Dependency during Disaster Outages)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88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Vision</a:t>
            </a:r>
            <a:br/>
            <a:r>
              <a:t>Quest1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p1_img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463040" cy="689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6492240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3566160" cy="5212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92400E"/>
                </a:solidFill>
              </a:defRPr>
            </a:pPr>
            <a:r>
              <a:t>FEASIBILITY ANALYSIS ⭐⭐⭐⭐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Infrastructure Reusability: </a:t>
            </a:r>
            <a:r>
              <a:rPr sz="950">
                <a:solidFill>
                  <a:srgbClr val="1E293B"/>
                </a:solidFill>
              </a:rPr>
              <a:t>Pure Python/NumPy optimized solver runs on standard edge laptops and command tablets without GPU clusters or supercomputing dependencies.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Scalable National Deployment: </a:t>
            </a:r>
            <a:r>
              <a:rPr sz="950">
                <a:solidFill>
                  <a:srgbClr val="1E293B"/>
                </a:solidFill>
              </a:rPr>
              <a:t>65+ major Indian dams pre-configured across all river basins; universal 'any river' DEM routing enables instant modeling anywhere in India.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Cost-Effectiveness: </a:t>
            </a:r>
            <a:r>
              <a:rPr sz="950">
                <a:solidFill>
                  <a:srgbClr val="1E293B"/>
                </a:solidFill>
              </a:rPr>
              <a:t>100% open-source stack (Copernicus DEM, Sentinel-1, OpenStreetMap, Leaflet, Python) completely replaces expensive multi-lakh rupee proprietary software licenses.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Environmental &amp; Field Feasibility: </a:t>
            </a:r>
            <a:r>
              <a:rPr sz="950">
                <a:solidFill>
                  <a:srgbClr val="1E293B"/>
                </a:solidFill>
              </a:rPr>
              <a:t>Operates entirely offline with local caching during severe power and network grid failures in disaster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566160" cy="521208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1A365D"/>
                </a:solidFill>
              </a:defRPr>
            </a:pPr>
            <a:r>
              <a:t>VIABILITY ✔️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Proven Scientific Concept: </a:t>
            </a:r>
            <a:r>
              <a:rPr sz="950">
                <a:solidFill>
                  <a:srgbClr val="1E293B"/>
                </a:solidFill>
              </a:rPr>
              <a:t>Ground-truth validated against real Indian HADR disasters: Rishi Ganga (2021), South Lhonak GLOF (2023), Phuktal (2015), and Idukki (2018).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Operational Market Demand: </a:t>
            </a:r>
            <a:r>
              <a:rPr sz="950">
                <a:solidFill>
                  <a:srgbClr val="1E293B"/>
                </a:solidFill>
              </a:rPr>
              <a:t>Directly fulfills mandates of NDMA, Central Water Commission (CWC), NTRO, State Disaster Management Authorities (SDMA), and Indian Armed Forces HADR units.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Automated Reporting &amp; Transparency: </a:t>
            </a:r>
            <a:r>
              <a:rPr sz="950">
                <a:solidFill>
                  <a:srgbClr val="1E293B"/>
                </a:solidFill>
              </a:rPr>
              <a:t>Instant generation of production-grade ESRI Shapefiles, 3D Google Earth KML files, and executive disaster dossiers.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Social &amp; Life-Safety Viability: </a:t>
            </a:r>
            <a:r>
              <a:rPr sz="950">
                <a:solidFill>
                  <a:srgbClr val="1E293B"/>
                </a:solidFill>
              </a:rPr>
              <a:t>Maximizes golden-hour evacuation notice, protecting vulnerable downstream riverside communities and critical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05840"/>
            <a:ext cx="3566160" cy="52120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166534"/>
                </a:solidFill>
              </a:defRPr>
            </a:pPr>
            <a:r>
              <a:t>BUSINESS POTENTIAL &amp; IMPACT 📈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Government Cost Savings: </a:t>
            </a:r>
            <a:r>
              <a:rPr sz="950">
                <a:solidFill>
                  <a:srgbClr val="1E293B"/>
                </a:solidFill>
              </a:rPr>
              <a:t>Reduces simulation turnaround from 4–7 days to under 15 seconds, saving crores in manual survey, consultant fees, and emergency planning costs.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Inter-Agency Operational Synergy: </a:t>
            </a:r>
            <a:r>
              <a:rPr sz="950">
                <a:solidFill>
                  <a:srgbClr val="1E293B"/>
                </a:solidFill>
              </a:rPr>
              <a:t>Single operational picture connecting CWC dam authorities, NTRO intelligence, NDMA relief coordinators, and district collectors.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Insurance &amp; Disaster Audit Potential: </a:t>
            </a:r>
            <a:r>
              <a:rPr sz="950">
                <a:solidFill>
                  <a:srgbClr val="1E293B"/>
                </a:solidFill>
              </a:rPr>
              <a:t>Precise building-level and agricultural flood depth data enables rapid post-disaster insurance verification and recovery budgeting.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A365D"/>
                </a:solidFill>
              </a:rPr>
              <a:t>High-Export Scalability: </a:t>
            </a:r>
            <a:r>
              <a:rPr sz="950">
                <a:solidFill>
                  <a:srgbClr val="1E293B"/>
                </a:solidFill>
              </a:rPr>
              <a:t>Readily exportable to international transboundary river monitoring across South Asia (Indus, Brahmaputra, Ganga basins).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88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Vision</a:t>
            </a:r>
            <a:br/>
            <a:r>
              <a:t>Quest1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p1_img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463040" cy="689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6492240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74980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011680"/>
                <a:gridCol w="20116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Existing GIS / Flood Tools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Jal Raksha Platform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Jal Raksha Value / Benefit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Primary Focus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Static mapping / research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Automated Dam Break &amp; HADR DSS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Rapid, purpose-built crisis decision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Hydro Solvers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Single 1D or heavy desktop 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Dual SPH + Delft3D SWE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Captures both near shockwave &amp; valley 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Simulation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Hours to multiple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10 – 30 seconds on-the-fly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Golden hour rapid tactical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Dam Registry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Single dam project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65+ Indian Dams + Any River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Pan-India coverage across all river basins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Terrain &amp; DEM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Manual download &amp; clipping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Copernicus GLO-30 30m auto-fetch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Zero manual GIS preparation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Satellite Cross-Check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None or manual post-study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Google Earth Engine Sentinel-1 SAR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Objective ground-truth satellite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A365D"/>
                          </a:solidFill>
                        </a:defRPr>
                      </a:pPr>
                      <a:r>
                        <a:t>GIS Export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Proprietary project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66534"/>
                          </a:solidFill>
                        </a:defRPr>
                      </a:pPr>
                      <a:r>
                        <a:t>Shapefile (.shp), KML, GeoJSON,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Instant delivery to QGIS, ArcGIS, Google Earth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38160" y="1005840"/>
            <a:ext cx="3566160" cy="5120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200">
                <a:solidFill>
                  <a:srgbClr val="38BDF8"/>
                </a:solidFill>
              </a:defRPr>
            </a:pPr>
            <a:r>
              <a:t>HYDRODYNAMIC WAVE PROPAGATION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PEAK BREACH DISCHARGE (Qp):</a:t>
            </a:r>
          </a:p>
          <a:p>
            <a:pPr>
              <a:defRPr b="1" sz="1600">
                <a:solidFill>
                  <a:srgbClr val="FBBF24"/>
                </a:solidFill>
              </a:defRPr>
            </a:pPr>
            <a:r>
              <a:t>41,641 m³/s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</a:defRPr>
            </a:pPr>
            <a:r>
              <a:t>Simulated at Idukki Arch Dam under extreme monsoon release scenario.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MAXIMUM WATER DEPTH:</a:t>
            </a:r>
          </a:p>
          <a:p>
            <a:pPr>
              <a:defRPr b="1" sz="1600">
                <a:solidFill>
                  <a:srgbClr val="FBBF24"/>
                </a:solidFill>
              </a:defRPr>
            </a:pPr>
            <a:r>
              <a:t>18.33 meters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</a:defRPr>
            </a:pPr>
            <a:r>
              <a:t>Concentrated gorge depth rapidly dissipating along valley cross-sections.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EARLIEST DOWNSTREAM ARRIVAL:</a:t>
            </a:r>
          </a:p>
          <a:p>
            <a:pPr>
              <a:defRPr b="1" sz="1600">
                <a:solidFill>
                  <a:srgbClr val="FBBF24"/>
                </a:solidFill>
              </a:defRPr>
            </a:pPr>
            <a:r>
              <a:t>1.7 minutes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</a:defRPr>
            </a:pPr>
            <a:r>
              <a:t>Instant automated alert for nearest vulnerable settlement node.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INUNDATION CORRIDOR:</a:t>
            </a:r>
          </a:p>
          <a:p>
            <a:pPr>
              <a:defRPr b="1" sz="1600">
                <a:solidFill>
                  <a:srgbClr val="FBBF24"/>
                </a:solidFill>
              </a:defRPr>
            </a:pPr>
            <a:r>
              <a:t>43.8 km</a:t>
            </a:r>
          </a:p>
          <a:p>
            <a:pPr>
              <a:spcAft>
                <a:spcPts val="800"/>
              </a:spcAft>
              <a:defRPr sz="850">
                <a:solidFill>
                  <a:srgbClr val="E2E8F0"/>
                </a:solidFill>
              </a:defRPr>
            </a:pPr>
            <a:r>
              <a:t>Full reach traced with 88 cross-sections down to Arabian Sea confluence.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88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Vision</a:t>
            </a:r>
            <a:br/>
            <a:r>
              <a:t>Quest1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Georgia"/>
              </a:defRPr>
            </a:pPr>
            <a:r>
              <a:t>RESEARCH, REFERENCES &amp; UI/UX SHOWCASE</a:t>
            </a:r>
          </a:p>
        </p:txBody>
      </p:sp>
      <p:pic>
        <p:nvPicPr>
          <p:cNvPr id="4" name="Picture 3" descr="p1_img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463040" cy="6898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6492240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35661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00">
                <a:solidFill>
                  <a:srgbClr val="1A365D"/>
                </a:solidFill>
              </a:defRPr>
            </a:pPr>
            <a:r>
              <a:t>Copernicus GLO-30 &amp; D8 Flow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Global 30m DEM elevation matrix with D8 downslope flow direction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5661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00">
                <a:solidFill>
                  <a:srgbClr val="1A365D"/>
                </a:solidFill>
              </a:defRPr>
            </a:pPr>
            <a:r>
              <a:t>SPH &amp; Delft3D Solvers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Smoothed-Particle Hydrodynamics (Lagrangian) &amp; 2D Saint-Venant shallow water equations.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05840"/>
            <a:ext cx="35661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00">
                <a:solidFill>
                  <a:srgbClr val="1A365D"/>
                </a:solidFill>
              </a:defRPr>
            </a:pPr>
            <a:r>
              <a:t>Froehlich &amp; Hanson-Temple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Empirical breach geometry (2008) and cohesive soil erosion detachment rates (k_d, tau_c).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35661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00">
                <a:solidFill>
                  <a:srgbClr val="1A365D"/>
                </a:solidFill>
              </a:defRPr>
            </a:pPr>
            <a:r>
              <a:t>ESA Sentinel-1 SAR &amp; GEE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Near-real-time dual-polarization (IW/VV) radar backscatter change detection (Delta-sigma &lt; -2.5 dB).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5661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00">
                <a:solidFill>
                  <a:srgbClr val="1A365D"/>
                </a:solidFill>
              </a:defRPr>
            </a:pPr>
            <a:r>
              <a:t>CWC &amp; NDMA Guidelines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Central Water Commission Guidelines for Mapping Flood Inundation Due to Dam Break (2018).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51760"/>
            <a:ext cx="35661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100">
                <a:solidFill>
                  <a:srgbClr val="1A365D"/>
                </a:solidFill>
              </a:defRPr>
            </a:pPr>
            <a:r>
              <a:t>OpenStreetMap &amp; Unit Costs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Automated building footprint spatial join with configurable INR economic loss modeling.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4712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JAL RAKSHA USER INTERFACE &amp; LIVE CAPABILITIES SHOWCASE</a:t>
            </a:r>
          </a:p>
          <a:p/>
          <a:p>
            <a:pPr>
              <a:defRPr b="1" sz="1050">
                <a:solidFill>
                  <a:srgbClr val="FBBF24"/>
                </a:solidFill>
              </a:defRPr>
            </a:pPr>
            <a:r>
              <a:t>Interactive GIS Workspace</a:t>
            </a:r>
          </a:p>
          <a:p>
            <a:pPr>
              <a:spcAft>
                <a:spcPts val="400"/>
              </a:spcAft>
              <a:defRPr sz="900">
                <a:solidFill>
                  <a:srgbClr val="E2E8F0"/>
                </a:solidFill>
              </a:defRPr>
            </a:pPr>
            <a:r>
              <a:t>• Leaflet.js with Google Hybrid, ESRI Sat &amp; Topo</a:t>
            </a:r>
            <a:br/>
            <a:r>
              <a:t>• 65+ Indian Major Dams Registry Explorer</a:t>
            </a:r>
            <a:br/>
            <a:r>
              <a:t>• Draw Centerline HUD for Any Indian River</a:t>
            </a:r>
          </a:p>
          <a:p>
            <a:pPr>
              <a:defRPr b="1" sz="1050">
                <a:solidFill>
                  <a:srgbClr val="FBBF24"/>
                </a:solidFill>
              </a:defRPr>
            </a:pPr>
            <a:r>
              <a:t>Hydrodynamic Control Suite</a:t>
            </a:r>
          </a:p>
          <a:p>
            <a:pPr>
              <a:spcAft>
                <a:spcPts val="400"/>
              </a:spcAft>
              <a:defRPr sz="900">
                <a:solidFill>
                  <a:srgbClr val="E2E8F0"/>
                </a:solidFill>
              </a:defRPr>
            </a:pPr>
            <a:r>
              <a:t>• SPH vs Delft3D side-by-side solver comparison</a:t>
            </a:r>
            <a:br/>
            <a:r>
              <a:t>• Time-stepped wave animation timeline dock</a:t>
            </a:r>
            <a:br/>
            <a:r>
              <a:t>• 4 Multi-Scenario inundation extent overlays</a:t>
            </a:r>
          </a:p>
          <a:p>
            <a:pPr>
              <a:defRPr b="1" sz="1050">
                <a:solidFill>
                  <a:srgbClr val="FBBF24"/>
                </a:solidFill>
              </a:defRPr>
            </a:pPr>
            <a:r>
              <a:t>Emergency Command &amp; Exports</a:t>
            </a:r>
          </a:p>
          <a:p>
            <a:pPr>
              <a:spcAft>
                <a:spcPts val="400"/>
              </a:spcAft>
              <a:defRPr sz="900">
                <a:solidFill>
                  <a:srgbClr val="E2E8F0"/>
                </a:solidFill>
              </a:defRPr>
            </a:pPr>
            <a:r>
              <a:t>• One-click ESRI Shapefile Package (.zip)</a:t>
            </a:r>
            <a:br/>
            <a:r>
              <a:t>• Google Earth 3D KML with depth contours</a:t>
            </a:r>
            <a:br/>
            <a:r>
              <a:t>• Google Earth Engine Sentinel-1 SAR 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